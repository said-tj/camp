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280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40" d="100"/>
          <a:sy n="40" d="100"/>
        </p:scale>
        <p:origin x="150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C9A8F-1D7C-ABAE-B60A-4632A6D32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90133D-C142-2514-BF87-731C8545D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8BFA2-6A4D-7801-7EDC-76BEA7CD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9EC06-81C3-BD85-C271-01DDEFAA6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174BE6-0F22-356B-22A7-764AE6D3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91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3BEEE-6426-59CD-5D35-91CF5CF1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A31479-652D-EBFC-3B56-CE6D3BB0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D2B17E-2ED7-9FE4-C117-2996D286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856C34-5151-CB03-83C2-DAE418A3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141C5-B565-E3F8-42C5-D830DD307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132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244E1-6D59-B7CF-CF75-86161248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9FCB83-D73A-627C-D4B0-25C8EFD4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45EC45-700B-9CBD-FDAE-A17CAD12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EDDB03-9FC8-3F6D-B6FC-52E4798C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543130-70E0-7FDB-1050-02ADFF94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039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ECC75-4B32-20F6-A6A1-BD4174459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411751-905E-888F-3C8D-ACF005304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EC104B-D815-08B2-E966-DC0E83E53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7A5327-C08D-7434-4FDC-CC7B4CA7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79CC5A-4644-066A-E1D6-4DA57E60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1094F7-AD29-E2D4-0164-0F7B8DBC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021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5FDAA-A285-8934-81E6-E071DECE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955FF1-0363-ABBD-289D-1AECD375B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9768C3-7F56-4BC7-8650-C3490D7DF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7A2555-2672-A608-42A7-FEEC51136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707A8A-3C0E-C800-DD4B-9F4C03DAA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53BE8B6-9E30-F6D3-1529-B7047946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9DD613C-1D34-9126-AD18-767D827A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151CF3-1CE9-3436-E5C8-8B951CCC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0880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966CAE-7D21-ED3F-70CB-B029BB9DA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D5542-280C-4799-85C5-1F2EF521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47909-5173-901A-0AB7-9C29ACDD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D47DB0-A060-0DC4-2B47-EE064D13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346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CD6D04-D183-2799-CA6B-6E1B7173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1B52DA-2F88-100E-618C-7C472B9D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4CA1AB-ED8B-6945-6F4C-B93562E6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76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2F0FD-2FF6-7C4F-7AB6-EE911121C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3D9B7A-E9F0-FA78-0BD6-18817504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821A90-AD67-5891-04AF-71AB49159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EC4E46-5357-15E6-61F7-AB082D16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4F2C08-D4F2-A55E-884E-3B56AE37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55F69B-4658-74A1-6356-D08C8313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677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BD518-F476-77F0-B5F8-0C62772F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088B5CD-F942-376D-2601-632E09DE6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F563FD6-CB41-08D2-2E89-7290A28FC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679DEB-4E95-BE43-7B2B-92B5B6C8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8692D3-901F-0D2C-B7BF-7A7801CA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43E645-A43F-59E8-5BBD-ACDBB781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066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0D3C6-E7C0-265A-135C-53B792FF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CD9662-4C78-5FE3-3554-E880E1A48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87C288-407C-53D5-9007-8B06C642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F33011-178B-86C1-C2E6-BF298BCFD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FF014-000C-F310-9C30-989567C6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23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D240AE-EB96-DEC7-41FE-73845DF0D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A44221-C6B2-DF10-8A81-E5BFAA195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C12B01-8213-DFD1-89E9-23EBC05B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C6285A-3351-6403-C274-61C6E563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FCF561-5F22-46B2-5BD1-B9DCBDB0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9959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D917B9-2511-8DC7-C723-767D1132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76CF1A-2D31-BCF0-758D-B0802F8E7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88CE84-9531-7018-95A3-7ABF9DBDC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E446C-D4CB-4560-BEA1-58C09C9B2DC8}" type="datetimeFigureOut">
              <a:rPr lang="es-MX" smtClean="0"/>
              <a:t>16/02/2026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DD02A4-3745-51E2-9778-A9E83B597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66D7D-F2B6-7512-58FB-4AB5F64F8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AD179-8E83-4755-9092-7B83D15C4F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426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68555-B14E-96E1-8FDD-C176DC3B7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7378"/>
            <a:ext cx="9144000" cy="1140777"/>
          </a:xfrm>
        </p:spPr>
        <p:txBody>
          <a:bodyPr>
            <a:no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Evaluación Cuantitativa de Electrodos para Electromiografía del Esfínter Uretral Externo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CA6EA9-8E27-2EFB-BC38-A8D3AB964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8999"/>
            <a:ext cx="9144000" cy="1507807"/>
          </a:xfrm>
        </p:spPr>
        <p:txBody>
          <a:bodyPr>
            <a:normAutofit/>
          </a:bodyPr>
          <a:lstStyle/>
          <a:p>
            <a:pPr algn="l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Steward JE, Clemons JD,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Zaszczurynski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PJ, Butler RS,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Damaser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MS,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Jiang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HH</a:t>
            </a:r>
          </a:p>
          <a:p>
            <a:pPr algn="l"/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Cleveland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Clinic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Cleveland, Ohio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BB9F924-1165-6516-99C7-0C21E1C46F4A}"/>
              </a:ext>
            </a:extLst>
          </p:cNvPr>
          <p:cNvSpPr txBox="1">
            <a:spLocks/>
          </p:cNvSpPr>
          <p:nvPr/>
        </p:nvSpPr>
        <p:spPr>
          <a:xfrm>
            <a:off x="1524000" y="4037650"/>
            <a:ext cx="9144000" cy="970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Urology</a:t>
            </a:r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(2010)</a:t>
            </a:r>
          </a:p>
          <a:p>
            <a:pPr algn="l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28(3):365-371 | doi:10.1007/s00345-009-0463-4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CC71DFA-131D-8E35-C3DA-1C5AF02CAC7A}"/>
              </a:ext>
            </a:extLst>
          </p:cNvPr>
          <p:cNvSpPr txBox="1">
            <a:spLocks/>
          </p:cNvSpPr>
          <p:nvPr/>
        </p:nvSpPr>
        <p:spPr>
          <a:xfrm>
            <a:off x="1524000" y="5399408"/>
            <a:ext cx="9144000" cy="127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Presentado por:</a:t>
            </a:r>
          </a:p>
          <a:p>
            <a:pPr algn="l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Tecpa Juárez Said</a:t>
            </a:r>
          </a:p>
          <a:p>
            <a:pPr algn="r"/>
            <a:r>
              <a:rPr lang="es-MX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Tlaxcala | Febrero 2026</a:t>
            </a:r>
          </a:p>
        </p:txBody>
      </p:sp>
    </p:spTree>
    <p:extLst>
      <p:ext uri="{BB962C8B-B14F-4D97-AF65-F5344CB8AC3E}">
        <p14:creationId xmlns:p14="http://schemas.microsoft.com/office/powerpoint/2010/main" val="332237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89BF1-DAE9-6809-6A73-BA4490F7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Contexto Clínico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A03400-5206-1C09-A520-E219D32A7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385"/>
            <a:ext cx="10515600" cy="3272155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qué es importante este estudio?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Incontinencia Urinaria de Esfuerzo: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Afecta a millones de mujeres mundialmente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Pérdida involuntaria de orinar al toser, estornudar, hacer ejercicio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Causas: debilidad del esfínter uretral externo (EUS)</a:t>
            </a:r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1986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3ED2-C376-B251-06B7-4125D7AD3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B7127-D105-6032-616F-3D0200F1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Contexto Clínico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3E7C7E-3CB1-B83A-39A8-8697212B1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7917"/>
            <a:ext cx="10515600" cy="2494915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Necesidad de medir la función del EUS:</a:t>
            </a:r>
          </a:p>
          <a:p>
            <a:r>
              <a:rPr lang="es-MX" dirty="0"/>
              <a:t>Electromiografía (EMG) = técnica para medir actividad eléctrica muscular</a:t>
            </a:r>
          </a:p>
          <a:p>
            <a:r>
              <a:rPr lang="es-MX" dirty="0"/>
              <a:t>Permite evaluar función nerviosa y muscular</a:t>
            </a:r>
          </a:p>
          <a:p>
            <a:r>
              <a:rPr lang="es-MX" dirty="0"/>
              <a:t>Crucial para investigación y diagnóstico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9BED2BF-E44B-B58C-5400-779357D05805}"/>
              </a:ext>
            </a:extLst>
          </p:cNvPr>
          <p:cNvSpPr txBox="1">
            <a:spLocks/>
          </p:cNvSpPr>
          <p:nvPr/>
        </p:nvSpPr>
        <p:spPr>
          <a:xfrm>
            <a:off x="838200" y="4492625"/>
            <a:ext cx="10515600" cy="167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</a:t>
            </a:r>
          </a:p>
          <a:p>
            <a:r>
              <a:rPr lang="es-MX" dirty="0"/>
              <a:t>Existen varios tipos de electrodos</a:t>
            </a:r>
          </a:p>
          <a:p>
            <a:r>
              <a:rPr lang="es-MX" b="1" dirty="0"/>
              <a:t>¿Cuál es el más confiable para medir EMG del EUS?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0409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16D62-9ACE-753E-76C4-EFBFA196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7B4EC-E187-5ECE-9F3F-666A4C150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228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Anatomía del Sistema Urinario 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E7C8D2-4416-C5E5-4E94-EAD2B4AE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620" y="1783715"/>
            <a:ext cx="4556760" cy="4572000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Vejiga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Uretra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_________________________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Esfínter Uretral Externo  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(EUS)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|_________________________|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s-MX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Meato Uretral</a:t>
            </a:r>
          </a:p>
          <a:p>
            <a:pPr marL="0" indent="0" algn="ctr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252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7CAD-72C7-1F2F-25BB-8B2D3231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94B7B-767C-4A19-F995-381908D28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Anatomía del Sistema Urinario 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61E7B5-4053-61D1-89E6-764DBC413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385"/>
            <a:ext cx="10515600" cy="3272155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Esfínter Uretral Externo (EUS):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Músculo estriado (control voluntario)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Rodea la uretra media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Función: mantener continencia urinaria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Inervado por nervio pudendo</a:t>
            </a:r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371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8476-F564-2436-90F8-BD0025AFE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0CA4A-22E7-6079-72EC-863E45193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Anatomía del Sistema Urinario Bajo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FC97EA-AFE3-6C2D-0910-44FF04D12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7302"/>
            <a:ext cx="10515600" cy="1763395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Reflejo de Protección (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Guarding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Reflex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s-MX" dirty="0"/>
              <a:t>Cuando ↑ presión vesical → ↑ actividad del EUS</a:t>
            </a:r>
          </a:p>
          <a:p>
            <a:r>
              <a:rPr lang="es-MX" dirty="0"/>
              <a:t>Mecanismo de defensa contra fugas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846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184F0-464F-F5C6-A118-0FA6712F3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05423-C980-4717-644A-59F22075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17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Tres Electrodos Evaluados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317B48-E27F-B4B3-F218-AD7D4E90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5"/>
            <a:ext cx="10515600" cy="483235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Comparación de Electrodos</a:t>
            </a:r>
          </a:p>
          <a:p>
            <a:pPr marL="0" indent="0">
              <a:buNone/>
            </a:pPr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9531FC53-F000-0106-8BC5-76671A16AF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7267419"/>
                  </p:ext>
                </p:extLst>
              </p:nvPr>
            </p:nvGraphicFramePr>
            <p:xfrm>
              <a:off x="1323506" y="2082952"/>
              <a:ext cx="9544988" cy="426972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386247">
                      <a:extLst>
                        <a:ext uri="{9D8B030D-6E8A-4147-A177-3AD203B41FA5}">
                          <a16:colId xmlns:a16="http://schemas.microsoft.com/office/drawing/2014/main" val="670421950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287166176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1246160617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1634576600"/>
                        </a:ext>
                      </a:extLst>
                    </a:gridCol>
                  </a:tblGrid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Característica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Superficie (SE)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Concéntrico (CE)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Alambre (WE)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553531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Ubicación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Sobre superficie del músculo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Insertado 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Insertado bilateralmente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0527236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Distancia entre polos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0.1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 – 2 mm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6197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 err="1"/>
                            <a:t>Invasividdad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No invasivo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Mínimamente invasivo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Mínimamente invasivo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4081654"/>
                      </a:ext>
                    </a:extLst>
                  </a:tr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Área de detección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Grande (global)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Pequeña (local)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Media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8013798"/>
                      </a:ext>
                    </a:extLst>
                  </a:tr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Bipolar comercial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Punta de lápiz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Alambre Pt-Ir 50 </a:t>
                          </a:r>
                          <a14:m>
                            <m:oMath xmlns:m="http://schemas.openxmlformats.org/officeDocument/2006/math">
                              <m:r>
                                <a:rPr lang="es-MX" smtClean="0"/>
                                <m:t>𝜇</m:t>
                              </m:r>
                              <m:r>
                                <a:rPr lang="es-MX" b="0" smtClean="0"/>
                                <m:t>𝑚</m:t>
                              </m:r>
                            </m:oMath>
                          </a14:m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24726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a 3">
                <a:extLst>
                  <a:ext uri="{FF2B5EF4-FFF2-40B4-BE49-F238E27FC236}">
                    <a16:creationId xmlns:a16="http://schemas.microsoft.com/office/drawing/2014/main" id="{9531FC53-F000-0106-8BC5-76671A16AF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7267419"/>
                  </p:ext>
                </p:extLst>
              </p:nvPr>
            </p:nvGraphicFramePr>
            <p:xfrm>
              <a:off x="1323506" y="2082952"/>
              <a:ext cx="9544988" cy="4269723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386247">
                      <a:extLst>
                        <a:ext uri="{9D8B030D-6E8A-4147-A177-3AD203B41FA5}">
                          <a16:colId xmlns:a16="http://schemas.microsoft.com/office/drawing/2014/main" val="670421950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287166176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1246160617"/>
                        </a:ext>
                      </a:extLst>
                    </a:gridCol>
                    <a:gridCol w="2386247">
                      <a:extLst>
                        <a:ext uri="{9D8B030D-6E8A-4147-A177-3AD203B41FA5}">
                          <a16:colId xmlns:a16="http://schemas.microsoft.com/office/drawing/2014/main" val="1634576600"/>
                        </a:ext>
                      </a:extLst>
                    </a:gridCol>
                  </a:tblGrid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Característica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Superficie (SE)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Concéntrico (CE)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sz="2000" b="1" dirty="0"/>
                            <a:t>Alambre (WE)</a:t>
                          </a:r>
                          <a:endParaRPr lang="es-MX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4553531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Ubicación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Sobre superficie del músculo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Insertado 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Insertado bilateralmente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0527236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Distancia entre polos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0.1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1 – 2 mm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986197"/>
                      </a:ext>
                    </a:extLst>
                  </a:tr>
                  <a:tr h="901148">
                    <a:tc>
                      <a:txBody>
                        <a:bodyPr/>
                        <a:lstStyle/>
                        <a:p>
                          <a:r>
                            <a:rPr lang="es-MX" dirty="0" err="1"/>
                            <a:t>Invasividdad</a:t>
                          </a:r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No invasivo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Mínimamente invasivo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Mínimamente invasivo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4081654"/>
                      </a:ext>
                    </a:extLst>
                  </a:tr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Área de detección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Grande (global)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Pequeña (local)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Media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8013798"/>
                      </a:ext>
                    </a:extLst>
                  </a:tr>
                  <a:tr h="522093"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Material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Bipolar comercial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MX" dirty="0"/>
                            <a:t>Punta de lápiz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2"/>
                          <a:stretch>
                            <a:fillRect l="-300512" t="-720930" r="-256" b="-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472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422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E0B2-9437-5118-9BEA-7F4E33639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24071-FBA4-BAD8-AF22-5A68BD1AE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58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 Tres Electrodos Evaluados</a:t>
            </a:r>
          </a:p>
        </p:txBody>
      </p:sp>
      <p:pic>
        <p:nvPicPr>
          <p:cNvPr id="8" name="Imagen 7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92DB10B3-0638-46C2-EE00-72A74ABB2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699" y="1377885"/>
            <a:ext cx="7062602" cy="410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46C8-F1D6-2BB0-0086-3E15042E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1CE13-FB92-934C-7F6F-BFE0D690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Pregunta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EF725-0B59-5700-5EFA-5B629377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1385"/>
            <a:ext cx="10515600" cy="3775710"/>
          </a:xfrm>
        </p:spPr>
        <p:txBody>
          <a:bodyPr/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Principal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electrodo registra más confiablemente la actividad EMG del EUS?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Parámetros a evaluar:</a:t>
            </a:r>
          </a:p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Estabilidad de la señal</a:t>
            </a:r>
          </a:p>
          <a:p>
            <a:pPr lvl="1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Cuantificada por: cantidad de corrección de líneas base necesaria</a:t>
            </a:r>
          </a:p>
          <a:p>
            <a:pPr lvl="1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Señal limpia = menos corrección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9771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5CE98-BD34-9870-B0AB-EDE5BCB8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C4068-AAEF-1727-EB55-7E6DF754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Pregunta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8D5D44-423C-BE6B-73B9-D0053219A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45"/>
            <a:ext cx="10515600" cy="377571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Estabilidad de la señal</a:t>
            </a:r>
          </a:p>
          <a:p>
            <a:pPr marL="514350" indent="-514350">
              <a:buFont typeface="+mj-lt"/>
              <a:buAutoNum type="arabicPeriod"/>
            </a:pP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Sensibilidad de detección</a:t>
            </a:r>
          </a:p>
          <a:p>
            <a:pPr lvl="1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Cuantificada por: amplitud y frecuencia del EMG</a:t>
            </a:r>
          </a:p>
          <a:p>
            <a:pPr lvl="1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Mayor sensibilidad = detecta más actividad</a:t>
            </a:r>
          </a:p>
          <a:p>
            <a:pPr marL="457200" lvl="1" indent="0">
              <a:buNone/>
            </a:pPr>
            <a:endParaRPr lang="es-MX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Capacidad de detectar el reflejo de protección</a:t>
            </a:r>
          </a:p>
          <a:p>
            <a:pPr lvl="1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Comparación: actividad tónica vs. Actividad durante presión</a:t>
            </a:r>
          </a:p>
        </p:txBody>
      </p:sp>
    </p:spTree>
    <p:extLst>
      <p:ext uri="{BB962C8B-B14F-4D97-AF65-F5344CB8AC3E}">
        <p14:creationId xmlns:p14="http://schemas.microsoft.com/office/powerpoint/2010/main" val="74863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8AC86-AD3B-7624-2677-04345D2B0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B9AB4-FFE6-F523-35FC-B19187FA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Experimental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5B0D18-31BC-C4E7-24FA-5A5168F87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8692"/>
            <a:ext cx="10515600" cy="2380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Animal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Sujetos: 6 ratas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Sprague-Dawley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hembras (200-250 g)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Anestesia: Uretano (1.0 g/kg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i.p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Exposición quirúrgica: Apertura de sínfisis púbica</a:t>
            </a:r>
          </a:p>
        </p:txBody>
      </p:sp>
    </p:spTree>
    <p:extLst>
      <p:ext uri="{BB962C8B-B14F-4D97-AF65-F5344CB8AC3E}">
        <p14:creationId xmlns:p14="http://schemas.microsoft.com/office/powerpoint/2010/main" val="278666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05C0-E7D1-5E46-3FDC-1B4CE3A7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23580D-F1B9-D30C-C8F6-E8088F78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Experimental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2F34D9-C33E-3CAC-57A6-F06678082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3029"/>
            <a:ext cx="10515600" cy="663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Protocolo de Prueba de Presión de Fuga (LPP)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4E3B27E5-DAE5-56A1-2F22-27B3DC5BD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414" y="1686058"/>
            <a:ext cx="7013172" cy="49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193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71C4F-E219-7BE6-E17C-EB01B2A6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2A63E-114E-F9C6-0716-6F1CCDD0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Metodología Experimental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0BFB5D-8195-C509-5ED0-1D81A6886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3588"/>
            <a:ext cx="10515600" cy="2910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Proceso: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Llena vejiga con solución salina (5 ml/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Presionar gradualmente la vejiga con cotonete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Registrar presión cuando ocurre fuga (1 gota)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Repetir 3-4 veces por combinación de electrodos</a:t>
            </a:r>
          </a:p>
        </p:txBody>
      </p:sp>
    </p:spTree>
    <p:extLst>
      <p:ext uri="{BB962C8B-B14F-4D97-AF65-F5344CB8AC3E}">
        <p14:creationId xmlns:p14="http://schemas.microsoft.com/office/powerpoint/2010/main" val="3676656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6564-0F2D-7FCC-9089-B19E9B66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7CF2-3992-A01C-6897-534AE8AAB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Diseño Experimental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C783B8-6326-1B3E-E30C-503CB5A2D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906"/>
            <a:ext cx="10515600" cy="663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Secuencia de Pruebas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7C577AF-B0C8-A5FC-6DBF-D3F05BD1D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97008"/>
              </p:ext>
            </p:extLst>
          </p:nvPr>
        </p:nvGraphicFramePr>
        <p:xfrm>
          <a:off x="1648994" y="2633579"/>
          <a:ext cx="8894011" cy="33335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70573">
                  <a:extLst>
                    <a:ext uri="{9D8B030D-6E8A-4147-A177-3AD203B41FA5}">
                      <a16:colId xmlns:a16="http://schemas.microsoft.com/office/drawing/2014/main" val="2398807210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2316678087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2845842580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1294990007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3434675457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3482203036"/>
                    </a:ext>
                  </a:extLst>
                </a:gridCol>
                <a:gridCol w="1270573">
                  <a:extLst>
                    <a:ext uri="{9D8B030D-6E8A-4147-A177-3AD203B41FA5}">
                      <a16:colId xmlns:a16="http://schemas.microsoft.com/office/drawing/2014/main" val="3336953916"/>
                    </a:ext>
                  </a:extLst>
                </a:gridCol>
              </a:tblGrid>
              <a:tr h="833379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Prueba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69359"/>
                  </a:ext>
                </a:extLst>
              </a:tr>
              <a:tr h="833379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89408"/>
                  </a:ext>
                </a:extLst>
              </a:tr>
              <a:tr h="833379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82824"/>
                  </a:ext>
                </a:extLst>
              </a:tr>
              <a:tr h="833379">
                <a:tc>
                  <a:txBody>
                    <a:bodyPr/>
                    <a:lstStyle/>
                    <a:p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MX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24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564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A58C9-1CFF-2BA0-F671-6DA011C0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0D14C-0A14-3C9F-1A14-0665E576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05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Diseño Experimental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AD0E36-DA26-BD41-8890-2031581906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75627"/>
                <a:ext cx="10515600" cy="41067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Estrategia:</a:t>
                </a:r>
              </a:p>
              <a:p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Registros individuales: </a:t>
                </a:r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 electrodo a la vez (pruebas 1, 2, 6)</a:t>
                </a:r>
              </a:p>
              <a:p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Registros simultáneos:</a:t>
                </a:r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Dos electrodos al mismo tiempo (pruebas 3, 4, 5)</a:t>
                </a:r>
              </a:p>
              <a:p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Razón: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Verificar si la presencia de un electrodo afecta las mediciones del otro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Comparar rendimiento individual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s-MX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simultáneo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FAD0E36-DA26-BD41-8890-2031581906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75627"/>
                <a:ext cx="10515600" cy="4106745"/>
              </a:xfrm>
              <a:blipFill>
                <a:blip r:embed="rId2"/>
                <a:stretch>
                  <a:fillRect l="-1217" t="-267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994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0C319-B229-F28D-DF59-6FC859C8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37CB2-8286-2C9C-D390-3718D8BC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de Señales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C9724-6816-C929-F466-1AFD01764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6905"/>
            <a:ext cx="10515600" cy="44217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Amplificador: 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P511 AC (Astro-</a:t>
            </a:r>
            <a:r>
              <a:rPr lang="es-MX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Frecuencia de muestreo: 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kHz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Filtro paso-banda: 3 Hz – 3 kHz</a:t>
            </a: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Muestras Analizadas:</a:t>
            </a:r>
            <a:endParaRPr lang="es-MX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Duración: 1 segundo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Actividad tónica: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s antes de aplicar presión (reposo)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Actividad LPP: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 terminando en el pico de presión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87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89F6A-ACC5-3467-3995-282DCDB1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1DEB6-3CCC-7CB6-681D-00DA303A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de Señales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F5A1F-6C55-4E88-01E3-F775072D7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5605"/>
            <a:ext cx="10515600" cy="2186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Muestras Analizadas:</a:t>
            </a:r>
            <a:endParaRPr lang="es-MX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Duración: 1 segundo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Actividad tónica: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s antes de aplicar presión (reposo)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Actividad LPP: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 terminando en el pico de presión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42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5654-B23D-C0E7-915D-2ABA2FF8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6939F-18A4-B44B-6C06-D981DEE3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de Señales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24123744-BECF-0AB9-58BC-1205CD43BEF7}"/>
              </a:ext>
            </a:extLst>
          </p:cNvPr>
          <p:cNvGrpSpPr/>
          <p:nvPr/>
        </p:nvGrpSpPr>
        <p:grpSpPr>
          <a:xfrm>
            <a:off x="2736220" y="833356"/>
            <a:ext cx="6719560" cy="5537211"/>
            <a:chOff x="2736220" y="833356"/>
            <a:chExt cx="6719560" cy="5537211"/>
          </a:xfrm>
        </p:grpSpPr>
        <p:pic>
          <p:nvPicPr>
            <p:cNvPr id="7" name="Imagen 6" descr="Diagrama, Forma&#10;&#10;El contenido generado por IA puede ser incorrecto.">
              <a:extLst>
                <a:ext uri="{FF2B5EF4-FFF2-40B4-BE49-F238E27FC236}">
                  <a16:creationId xmlns:a16="http://schemas.microsoft.com/office/drawing/2014/main" id="{C8772E03-CAC8-46EA-7FA0-72D01D7F8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6220" y="833356"/>
              <a:ext cx="6719560" cy="5191287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24443BE-C4A1-2273-CF01-D8E21517B0B9}"/>
                </a:ext>
              </a:extLst>
            </p:cNvPr>
            <p:cNvSpPr txBox="1"/>
            <p:nvPr/>
          </p:nvSpPr>
          <p:spPr>
            <a:xfrm>
              <a:off x="2736220" y="5847347"/>
              <a:ext cx="67195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Gráfico Temporal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7001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442A-0F3F-4AC0-B775-12E645E1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54B8A-357E-6E61-4470-C7B5C4232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(1/3)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CFEF86-AFF1-59D4-B505-8528562D1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358"/>
            <a:ext cx="10515600" cy="2737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Problema: Variación de Línea Base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Señal EMG cruda contiene:</a:t>
            </a:r>
          </a:p>
          <a:p>
            <a:r>
              <a:rPr lang="es-MX" dirty="0"/>
              <a:t>✓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Actividad muscular real (alta frecuencia)</a:t>
            </a:r>
          </a:p>
          <a:p>
            <a:r>
              <a:rPr lang="es-MX" dirty="0"/>
              <a:t>✗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 lenta de línea base (baja frecuencia)</a:t>
            </a: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/>
              <a:t>✗ </a:t>
            </a: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Ruido de 60 Hz (interferencia eléctrica)</a:t>
            </a: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9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5B69-C061-F47D-E6E3-3BCF62F5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F26FB-F8DF-1AE4-DC66-AC2B9023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(1/3)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7F971966-75E7-1B1C-5F6D-5ECF639D0AA3}"/>
              </a:ext>
            </a:extLst>
          </p:cNvPr>
          <p:cNvGrpSpPr/>
          <p:nvPr/>
        </p:nvGrpSpPr>
        <p:grpSpPr>
          <a:xfrm>
            <a:off x="291315" y="2131057"/>
            <a:ext cx="11609370" cy="3119105"/>
            <a:chOff x="291315" y="2131057"/>
            <a:chExt cx="11609370" cy="3119105"/>
          </a:xfrm>
        </p:grpSpPr>
        <p:pic>
          <p:nvPicPr>
            <p:cNvPr id="7" name="Imagen 6" descr="Imagen que contiene Diagrama&#10;&#10;El contenido generado por IA puede ser incorrecto.">
              <a:extLst>
                <a:ext uri="{FF2B5EF4-FFF2-40B4-BE49-F238E27FC236}">
                  <a16:creationId xmlns:a16="http://schemas.microsoft.com/office/drawing/2014/main" id="{C6750092-4310-226B-2B2A-463E56B52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315" y="2131057"/>
              <a:ext cx="11609370" cy="2595885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57CF60F-CBDA-C41E-BC4D-4670694B59E4}"/>
                </a:ext>
              </a:extLst>
            </p:cNvPr>
            <p:cNvSpPr txBox="1"/>
            <p:nvPr/>
          </p:nvSpPr>
          <p:spPr>
            <a:xfrm>
              <a:off x="291315" y="4726942"/>
              <a:ext cx="116093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Gráfico – Señal Original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1811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16C56-DF60-6E21-A195-CBD9D8E0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F6C65-0361-63D6-C8D5-0B9E01F7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(1/3)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F66E90-044D-F899-0F52-CC1C29CCC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589"/>
            <a:ext cx="10515600" cy="2198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Consecuencias sin corrección: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Imposible establecer umbral de detección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Cálculos de amplitud incorrectos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no cuantificables</a:t>
            </a: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7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2511-16E7-153F-6223-0817D442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B51B4-FA7B-020B-615F-142046FD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(2/3)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938AC7-A24B-8A82-DB71-EB1CD82D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22095"/>
            <a:ext cx="10515600" cy="1813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Solución: Corrección de Línea Base</a:t>
            </a:r>
          </a:p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Paso 1: Filtrado 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Notch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(60 Hz)</a:t>
            </a:r>
          </a:p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 interferencia de corriente eléctrica</a:t>
            </a: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223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B001-CA60-4CF0-08E0-68B1A02E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2579F-9B60-216E-9233-2ED829F8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96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(2/3)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786F3D-956C-3519-6BEC-61EEF65BB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9489"/>
                <a:ext cx="10515600" cy="39990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Solución: Corrección de Línea Base</a:t>
                </a: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Paso 2: Suavizado con Ventana de Bartlett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Función triangular: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d>
                      <m:d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=1−</m:t>
                    </m:r>
                    <m:f>
                      <m:fPr>
                        <m:ctrlP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−(</m:t>
                            </m:r>
                            <m:r>
                              <m:rPr>
                                <m:sty m:val="p"/>
                              </m:r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−1)|</m:t>
                            </m:r>
                          </m:num>
                          <m:den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−1)</m:t>
                            </m:r>
                          </m:num>
                          <m:den>
                            <m:r>
                              <a:rPr lang="es-MX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Ancho: N = 151 puntos (15.1 ms a 10 kHz)</a:t>
                </a:r>
              </a:p>
              <a:p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Propósito: </a:t>
                </a:r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Extraer solo la deriva lenta</a:t>
                </a:r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6786F3D-956C-3519-6BEC-61EEF65BB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9489"/>
                <a:ext cx="10515600" cy="3999022"/>
              </a:xfrm>
              <a:blipFill>
                <a:blip r:embed="rId2"/>
                <a:stretch>
                  <a:fillRect l="-1217" t="-258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418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A206-E532-305C-1731-D10D4FF9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2CA1C-9018-CCA8-621F-3A110E15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96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(2/3)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56E68CD-7088-E07B-35FA-643B2E315A30}"/>
              </a:ext>
            </a:extLst>
          </p:cNvPr>
          <p:cNvGrpSpPr/>
          <p:nvPr/>
        </p:nvGrpSpPr>
        <p:grpSpPr>
          <a:xfrm>
            <a:off x="3102124" y="1113739"/>
            <a:ext cx="5987751" cy="4630521"/>
            <a:chOff x="3102124" y="1375349"/>
            <a:chExt cx="5987751" cy="4630521"/>
          </a:xfrm>
        </p:grpSpPr>
        <p:pic>
          <p:nvPicPr>
            <p:cNvPr id="7" name="Imagen 6" descr="Diagrama&#10;&#10;El contenido generado por IA puede ser incorrecto.">
              <a:extLst>
                <a:ext uri="{FF2B5EF4-FFF2-40B4-BE49-F238E27FC236}">
                  <a16:creationId xmlns:a16="http://schemas.microsoft.com/office/drawing/2014/main" id="{2D030705-2130-96F1-BB45-C5E9343FF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2124" y="1375349"/>
              <a:ext cx="5987751" cy="4107301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CE0B0E9-EC01-ABEB-F712-009DAB0165CC}"/>
                </a:ext>
              </a:extLst>
            </p:cNvPr>
            <p:cNvSpPr txBox="1"/>
            <p:nvPr/>
          </p:nvSpPr>
          <p:spPr>
            <a:xfrm>
              <a:off x="3102124" y="5482650"/>
              <a:ext cx="59877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Gráfico – Ventana de Bartlett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4576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F7CF5-7EF3-4E63-9BB1-0D400FD4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A33DB-0350-5122-D84E-4EF39E994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96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(2/3)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636064-86A4-0E1C-6AC9-8B0D46630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1671"/>
            <a:ext cx="10515600" cy="1674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¿Por qué Bartlett?</a:t>
            </a:r>
          </a:p>
          <a:p>
            <a:r>
              <a:rPr lang="es-MX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Balance entre suavidad y preservación de bordes</a:t>
            </a:r>
          </a:p>
          <a:p>
            <a:r>
              <a:rPr lang="es-MX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Respuesta frecuencial predecible</a:t>
            </a:r>
          </a:p>
          <a:p>
            <a:pPr marL="0" indent="0">
              <a:buNone/>
            </a:pPr>
            <a:endParaRPr lang="es-MX" b="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lang="es-MX" b="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lang="es-MX" b="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lang="es-MX" b="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MX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439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D614A-0C7C-591A-CC12-E972FA3F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51053-2D8E-6667-A50C-747EAA2A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(3/3)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6B72E-B1B0-D0FB-26CA-0593C08CE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28900"/>
            <a:ext cx="10515600" cy="14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Paso 3: Sustracción</a:t>
            </a:r>
          </a:p>
          <a:p>
            <a:pPr marL="0" indent="0">
              <a:buNone/>
            </a:pP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Señal_corregida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Sañal_original</a:t>
            </a:r>
            <a:r>
              <a:rPr lang="es-MX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s-MX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Señal_suavizada</a:t>
            </a:r>
            <a:endParaRPr lang="es-MX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229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A49C-8A10-9E76-D756-8409ADE92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E8354-6E9F-6BC3-9916-C08A0193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(3/3)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C4F5977-0A9B-4E30-CEC9-D031FDDFE87A}"/>
              </a:ext>
            </a:extLst>
          </p:cNvPr>
          <p:cNvGrpSpPr/>
          <p:nvPr/>
        </p:nvGrpSpPr>
        <p:grpSpPr>
          <a:xfrm>
            <a:off x="756754" y="1587881"/>
            <a:ext cx="10678492" cy="4205458"/>
            <a:chOff x="756754" y="1587881"/>
            <a:chExt cx="10678492" cy="4205458"/>
          </a:xfrm>
        </p:grpSpPr>
        <p:pic>
          <p:nvPicPr>
            <p:cNvPr id="5" name="Imagen 4" descr="Gráfico, Gráfico de barras, Histograma&#10;&#10;El contenido generado por IA puede ser incorrecto.">
              <a:extLst>
                <a:ext uri="{FF2B5EF4-FFF2-40B4-BE49-F238E27FC236}">
                  <a16:creationId xmlns:a16="http://schemas.microsoft.com/office/drawing/2014/main" id="{AD4DA42E-1289-87FB-724A-A93104951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754" y="1587881"/>
              <a:ext cx="10678492" cy="3682238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1BD03A0-0541-95D0-6EF2-6C7142F03413}"/>
                </a:ext>
              </a:extLst>
            </p:cNvPr>
            <p:cNvSpPr txBox="1"/>
            <p:nvPr/>
          </p:nvSpPr>
          <p:spPr>
            <a:xfrm>
              <a:off x="756754" y="5270119"/>
              <a:ext cx="106784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Gráfica Original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7874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E91F-AE5E-7B9F-1329-F707F39B9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1552F-ADF4-4C0F-5779-A70A946B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(3/3)</a:t>
            </a:r>
          </a:p>
        </p:txBody>
      </p:sp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A83D6CEA-4CD4-7E66-8500-073E7E136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293" y="1263316"/>
            <a:ext cx="9483414" cy="433136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8C30D30-C869-8183-4275-0E2B0B6BC52B}"/>
              </a:ext>
            </a:extLst>
          </p:cNvPr>
          <p:cNvSpPr txBox="1"/>
          <p:nvPr/>
        </p:nvSpPr>
        <p:spPr>
          <a:xfrm>
            <a:off x="1354293" y="5594684"/>
            <a:ext cx="948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Analogía de la grafica Original</a:t>
            </a:r>
          </a:p>
        </p:txBody>
      </p:sp>
    </p:spTree>
    <p:extLst>
      <p:ext uri="{BB962C8B-B14F-4D97-AF65-F5344CB8AC3E}">
        <p14:creationId xmlns:p14="http://schemas.microsoft.com/office/powerpoint/2010/main" val="2034842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3F7D-BE9D-23E8-DF45-46EAF954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DC5FB-0F7B-1CFA-3B37-FBD7ACC8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Matemático de Señales (3/3)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0CD728C-D89A-07C5-64B6-467BFE901D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4435"/>
                <a:ext cx="10515600" cy="38091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Paso 4: Cuantificación de Corrección</a:t>
                </a: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𝐶𝑜𝑟𝑟𝑒𝑐𝑐𝑖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ó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𝑟𝑒𝑙𝑎𝑡𝑖𝑣𝑎</m:t>
                      </m:r>
                      <m:r>
                        <a:rPr lang="es-MX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suavizada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l-G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original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s-MX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Transformada de Fourier de ambas señales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Suma de espectros de amplitud</a:t>
                </a:r>
              </a:p>
              <a:p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Interpretación: </a:t>
                </a:r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de señal que era “ruido de base”</a:t>
                </a:r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0CD728C-D89A-07C5-64B6-467BFE901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4435"/>
                <a:ext cx="10515600" cy="3809130"/>
              </a:xfrm>
              <a:blipFill>
                <a:blip r:embed="rId2"/>
                <a:stretch>
                  <a:fillRect l="-1217" t="-272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204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8C53-2C75-4B7A-C911-70E89CF6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11021-2986-35BD-6276-314AB316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Métricas Calculadas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03E67A4-4547-E4FD-53D9-D618A00CA4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62109"/>
                <a:ext cx="10515600" cy="25337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Parámetros Cuantitativos Extraídos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 Media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Señal rectificada (valores absolutos)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Promedio sobre 1 segundo</a:t>
                </a:r>
              </a:p>
              <a:p>
                <a:pPr lvl="1"/>
                <a:r>
                  <a:rPr lang="es-MX" sz="28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Interpretación:</a:t>
                </a:r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Intensidad de actividad muscular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03E67A4-4547-E4FD-53D9-D618A00CA4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62109"/>
                <a:ext cx="10515600" cy="2533782"/>
              </a:xfrm>
              <a:blipFill>
                <a:blip r:embed="rId2"/>
                <a:stretch>
                  <a:fillRect l="-1217" t="-433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5154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E45B-2604-34C8-FF8C-8555212AC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E21E-9403-ACE1-ED5B-88A5E5DA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Métricas Calculadas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85EBDD6-8E55-C876-06AC-D65E20821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26432"/>
                <a:ext cx="10515600" cy="5005136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Amplitud Media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𝝁</m:t>
                        </m:r>
                        <m:r>
                          <a:rPr lang="es-MX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</m:d>
                  </m:oMath>
                </a14:m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Frecuencia Media (Hz)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Número de eventos por segundo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Umbral de detección: 0.25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s-MX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endParaRPr lang="es-MX" sz="28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s-MX" sz="28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Interpretación:</a:t>
                </a:r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Tasa de disparos de unidades motoras</a:t>
                </a:r>
              </a:p>
              <a:p>
                <a:pPr lvl="1"/>
                <a:endParaRPr lang="es-MX" sz="28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Corrección de Línea Base Relativa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Proporción de señal eliminada</a:t>
                </a:r>
              </a:p>
              <a:p>
                <a:pPr lvl="1"/>
                <a:r>
                  <a:rPr lang="es-MX" sz="28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Interpretación:</a:t>
                </a:r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Estabilidad de la señal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85EBDD6-8E55-C876-06AC-D65E20821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26432"/>
                <a:ext cx="10515600" cy="5005136"/>
              </a:xfrm>
              <a:blipFill>
                <a:blip r:embed="rId2"/>
                <a:stretch>
                  <a:fillRect l="-1043" t="-2192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312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C076-B706-7159-FB8E-8C1498BC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02A68-218E-5B0B-C87E-669E0C0C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58895C-3FBB-84FD-BEF2-74A31529E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27801"/>
                <a:ext cx="10515600" cy="260239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Comparaciones Realizadas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Dentro de cada electrodo: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Actividad tónica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s-MX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Actividad LPP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Test: </a:t>
                </a:r>
                <a:r>
                  <a:rPr lang="es-MX" sz="28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Prueba t pareada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Pregunta: ¿El electrodo detecta aumento de actividad?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158895C-3FBB-84FD-BEF2-74A31529E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27801"/>
                <a:ext cx="10515600" cy="2602397"/>
              </a:xfrm>
              <a:blipFill>
                <a:blip r:embed="rId2"/>
                <a:stretch>
                  <a:fillRect l="-1217" t="-3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57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F6C2F-1A7B-BC7A-272E-5958AE66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78A4A-CF61-6C50-6368-22EC504C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2AEC0B-2284-49C6-E85B-EF50F8C1F8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09304"/>
                <a:ext cx="10515600" cy="5039392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Dentro de cada electrodo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electrodos (registros individuales):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CE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sz="28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Test: </a:t>
                </a:r>
                <a:r>
                  <a:rPr lang="es-MX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ANOVA de medidas repetidas</a:t>
                </a:r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contrastes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Pregunta: ¿Qué electrodo es más sensible/estable?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electrodos (registros simultáneos):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Mismo análisis que (2)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Pregunta: ¿Se interfieren entre sí?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2AEC0B-2284-49C6-E85B-EF50F8C1F8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09304"/>
                <a:ext cx="10515600" cy="5039392"/>
              </a:xfrm>
              <a:blipFill>
                <a:blip r:embed="rId2"/>
                <a:stretch>
                  <a:fillRect l="-1043" t="-205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968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A2B18-6EF0-B393-394A-27636DC3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FAA94-71D6-82DC-24A9-305F5B5B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Estadístico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1B8D1BC-BAF4-60F1-0622-5A68EEF042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89266"/>
                <a:ext cx="10515600" cy="5479467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Dentro de cada electrodo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electrodos (registros individuales)</a:t>
                </a:r>
                <a:endParaRPr lang="es-MX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 electrodos (registros simultáneos)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Individual </a:t>
                </a:r>
                <a14:m>
                  <m:oMath xmlns:m="http://schemas.openxmlformats.org/officeDocument/2006/math">
                    <m:r>
                      <a:rPr lang="es-MX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𝒗𝒔</m:t>
                    </m:r>
                    <m:r>
                      <a:rPr lang="es-MX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Simultáneo: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 cada electrodo: registro solo </a:t>
                </a:r>
                <a14:m>
                  <m:oMath xmlns:m="http://schemas.openxmlformats.org/officeDocument/2006/math"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s-MX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 otro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Test: </a:t>
                </a:r>
                <a:r>
                  <a:rPr lang="es-MX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ANOVA de dos vías de medidas repetidas</a:t>
                </a:r>
              </a:p>
              <a:p>
                <a:pPr lvl="1"/>
                <a:r>
                  <a:rPr lang="es-MX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Pregunta: ¿Afecta tener otro electrodo cerca?</a:t>
                </a:r>
              </a:p>
              <a:p>
                <a:pPr lvl="1"/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s-MX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Nivel de significancia: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s-MX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&lt; 0.05</m:t>
                    </m:r>
                  </m:oMath>
                </a14:m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(con corrección de Bonferroni)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1B8D1BC-BAF4-60F1-0622-5A68EEF042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89266"/>
                <a:ext cx="10515600" cy="5479467"/>
              </a:xfrm>
              <a:blipFill>
                <a:blip r:embed="rId2"/>
                <a:stretch>
                  <a:fillRect l="-1217" t="-18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6925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9C505-42FC-0D41-BAD9-E90619BF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74CC9-ADB6-9332-66AD-D376E0DE0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0905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la Corrección de Bonferroni?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12D513-3F36-2ED6-5A5C-EFBD728FE6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02363"/>
                <a:ext cx="10515600" cy="285327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Problema de Comparaciones Múltiples</a:t>
                </a: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Escenario: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Comparamos 3 electrodos → 3 comparaciones pareadas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 </a:t>
                </a:r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= 0.05</m:t>
                    </m:r>
                  </m:oMath>
                </a14:m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en cada una</a:t>
                </a:r>
              </a:p>
              <a:p>
                <a:r>
                  <a:rPr lang="es-MX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Probabilidad de al menos un falso positivo </a:t>
                </a:r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≈14.3%</m:t>
                    </m:r>
                  </m:oMath>
                </a14:m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012D513-3F36-2ED6-5A5C-EFBD728FE6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02363"/>
                <a:ext cx="10515600" cy="2853273"/>
              </a:xfrm>
              <a:blipFill>
                <a:blip r:embed="rId2"/>
                <a:stretch>
                  <a:fillRect l="-1217" t="-36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839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6686-BC24-75C7-4DA0-10280298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1F33E-4A1B-A307-1710-EA832053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63575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¿Qué es la Corrección de Bonferroni?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A7E454-3C2F-1184-9BDD-D16D8F4095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76826"/>
                <a:ext cx="10515600" cy="470434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Solución de Bonferroni: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ajustado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s-MX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original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s-MX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comparaciones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Ejemplo:</a:t>
                </a:r>
                <a:endParaRPr lang="es-MX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original = 0.05</a:t>
                </a:r>
              </a:p>
              <a:p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3 comparaciones</a:t>
                </a:r>
              </a:p>
              <a:p>
                <a14:m>
                  <m:oMath xmlns:m="http://schemas.openxmlformats.org/officeDocument/2006/math">
                    <m:r>
                      <a:rPr lang="es-MX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ajustado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0.05</m:t>
                        </m:r>
                      </m:num>
                      <m:den>
                        <m:r>
                          <a:rPr lang="es-MX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s-MX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=0.0167</m:t>
                    </m:r>
                  </m:oMath>
                </a14:m>
                <a:endParaRPr lang="es-MX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s-MX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s-MX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Resultado: </a:t>
                </a:r>
                <a:r>
                  <a:rPr lang="es-MX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Control estricto del error tipo I</a:t>
                </a:r>
                <a:endParaRPr lang="es-MX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8A7E454-3C2F-1184-9BDD-D16D8F4095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76826"/>
                <a:ext cx="10515600" cy="4704347"/>
              </a:xfrm>
              <a:blipFill>
                <a:blip r:embed="rId2"/>
                <a:stretch>
                  <a:fillRect l="-1217" t="-23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6995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1215</Words>
  <Application>Microsoft Office PowerPoint</Application>
  <PresentationFormat>Panorámica</PresentationFormat>
  <Paragraphs>261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Times New Roman</vt:lpstr>
      <vt:lpstr>Tema de Office</vt:lpstr>
      <vt:lpstr>Evaluación Cuantitativa de Electrodos para Electromiografía del Esfínter Uretral Externo </vt:lpstr>
      <vt:lpstr>Contexto Clínico</vt:lpstr>
      <vt:lpstr>Contexto Clínico</vt:lpstr>
      <vt:lpstr>Anatomía del Sistema Urinario Bajo</vt:lpstr>
      <vt:lpstr>Anatomía del Sistema Urinario Bajo</vt:lpstr>
      <vt:lpstr>Anatomía del Sistema Urinario Bajo</vt:lpstr>
      <vt:lpstr>Los Tres Electrodos Evaluados</vt:lpstr>
      <vt:lpstr>Los Tres Electrodos Evaluados</vt:lpstr>
      <vt:lpstr>Pregunta de investigación</vt:lpstr>
      <vt:lpstr>Pregunta de investigación</vt:lpstr>
      <vt:lpstr>Metodología Experimental</vt:lpstr>
      <vt:lpstr>Metodología Experimental</vt:lpstr>
      <vt:lpstr>Metodología Experimental</vt:lpstr>
      <vt:lpstr>Diseño Experimental</vt:lpstr>
      <vt:lpstr>Diseño Experimental</vt:lpstr>
      <vt:lpstr>Adquisición de Señales</vt:lpstr>
      <vt:lpstr>Adquisición de Señales</vt:lpstr>
      <vt:lpstr>Adquisición de Señales</vt:lpstr>
      <vt:lpstr>Procesamiento Matemático de Señales (1/3)</vt:lpstr>
      <vt:lpstr>Procesamiento Matemático de Señales (1/3)</vt:lpstr>
      <vt:lpstr>Procesamiento Matemático de Señales (1/3)</vt:lpstr>
      <vt:lpstr>Procesamiento Matemático de Señales (2/3)</vt:lpstr>
      <vt:lpstr>Procesamiento Matemático de Señales (2/3)</vt:lpstr>
      <vt:lpstr>Procesamiento Matemático de Señales (2/3)</vt:lpstr>
      <vt:lpstr>Procesamiento Matemático de Señales (2/3)</vt:lpstr>
      <vt:lpstr>Procesamiento Matemático de Señales (3/3)</vt:lpstr>
      <vt:lpstr>Procesamiento Matemático de Señales (3/3)</vt:lpstr>
      <vt:lpstr>Procesamiento Matemático de Señales (3/3)</vt:lpstr>
      <vt:lpstr>Procesamiento Matemático de Señales (3/3)</vt:lpstr>
      <vt:lpstr>Métricas Calculadas</vt:lpstr>
      <vt:lpstr>Métricas Calculadas</vt:lpstr>
      <vt:lpstr>Análisis Estadístico</vt:lpstr>
      <vt:lpstr>Análisis Estadístico</vt:lpstr>
      <vt:lpstr>Análisis Estadístico</vt:lpstr>
      <vt:lpstr>¿Qué es la Corrección de Bonferroni?</vt:lpstr>
      <vt:lpstr>¿Qué es la Corrección de Bonferroni?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</dc:creator>
  <cp:lastModifiedBy>Said</cp:lastModifiedBy>
  <cp:revision>8</cp:revision>
  <dcterms:created xsi:type="dcterms:W3CDTF">2026-02-16T14:54:23Z</dcterms:created>
  <dcterms:modified xsi:type="dcterms:W3CDTF">2026-02-16T22:59:18Z</dcterms:modified>
</cp:coreProperties>
</file>